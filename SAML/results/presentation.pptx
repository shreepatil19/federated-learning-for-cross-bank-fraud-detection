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16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003366"/>
                </a:solidFill>
              </a:rPr>
              <a:t>FL Algorithm Comparison on </a:t>
            </a:r>
            <a:endParaRPr lang="en-US" sz="4200" b="1">
              <a:solidFill>
                <a:srgbClr val="003366"/>
              </a:solidFill>
            </a:endParaRPr>
          </a:p>
          <a:p>
            <a:pPr algn="ctr"/>
            <a:r>
              <a:rPr sz="4200" b="1">
                <a:solidFill>
                  <a:srgbClr val="003366"/>
                </a:solidFill>
              </a:rPr>
              <a:t>SAML-D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04040"/>
                </a:solidFill>
              </a:rPr>
              <a:t>Nicolas Ordonez — UTS Master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808080"/>
                </a:solidFill>
              </a:rPr>
              <a:t>May 04,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3366"/>
                </a:solidFill>
              </a:rPr>
              <a:t>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600"/>
            </a:pPr>
            <a:r>
              <a:t>Title  .............................................  Slide 1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/>
            </a:pPr>
            <a:r>
              <a:t>Overview  ..........................................  Slide 2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/>
            </a:pPr>
            <a:r>
              <a:t>Methodology  .......................................  Slide 3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/>
            </a:pPr>
            <a:r>
              <a:t>Results  ...........................................  Slide 4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/>
            </a:pPr>
            <a:r>
              <a:t>Analysis  ..........................................  Slide 7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/>
            </a:pPr>
            <a:r>
              <a:t>FL Convergence  ....................................  Slide 12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/>
            </a:pPr>
            <a:r>
              <a:t>Alpha Analysis  ....................................  Slide 13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/>
            </a:pPr>
            <a:r>
              <a:t>Repository Changes  ................................  Slide 14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/>
            </a:pPr>
            <a:r>
              <a:t>Conclusions  .......................................  Slide 15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600"/>
            </a:pPr>
            <a:r>
              <a:t>References  ........................................  Slide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3366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800"/>
            </a:pPr>
            <a:r>
              <a:t>Dataset: SAML-D (4 banks, 1,697 fraud instances in test set)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800"/>
            </a:pPr>
            <a:r>
              <a:t>Algorithms: FedAvg, FedProx, FedNova, Scaffold, PersFL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800"/>
            </a:pPr>
            <a:r>
              <a:t>Heterogeneity sweep: α ∈ {0.05, 0.1, 0.5} (Dirichlet)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800"/>
            </a:pPr>
            <a:r>
              <a:t>Model types: MLP, LGB, XGB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800"/>
            </a:pPr>
            <a:r>
              <a:t>Total configurations: 15 (5 algos × 3 alpha values)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800"/>
            </a:pPr>
            <a:r>
              <a:t>Primary metric: AUPRC (Area Under Precision-Recall Curve)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800"/>
            </a:pPr>
            <a:r>
              <a:t>Best AUPRC: 0.0676 (FEDAVG_LGB / TREE, α=0.5)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3366"/>
                </a:solidFill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700"/>
            </a:pPr>
            <a:r>
              <a:t>• FedAvg: weighted average of client updates (McMahan et al., 2017)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/>
            </a:pPr>
            <a:r>
              <a:t>• FedProx: proximal regularisation for heterogeneous clients (Li et al., 2020)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/>
            </a:pPr>
            <a:r>
              <a:t>• FedNova: normalised averaging to correct objective inconsistency (Wang et al., 2020)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/>
            </a:pPr>
            <a:r>
              <a:t>• Scaffold: control variates to reduce client drift (Karimireddy et al., 2020)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/>
            </a:pPr>
            <a:r>
              <a:t>• PersFL: personalised per-client model adaptation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700"/>
            </a:pPr>
            <a:endParaRPr/>
          </a:p>
          <a:p>
            <a:pPr>
              <a:spcBef>
                <a:spcPts val="500"/>
              </a:spcBef>
              <a:spcAft>
                <a:spcPts val="500"/>
              </a:spcAft>
              <a:defRPr sz="1700"/>
            </a:pPr>
            <a:r>
              <a:t>Training: 20 rounds · 4 clients · Base learners: MLP / LGB / XGB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3366"/>
                </a:solidFill>
              </a:rPr>
              <a:t>Results: FEDAVG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8412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Alpha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AUPRC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MCC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Specificity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FEDAVG_MLP /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0.0318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0.0322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0.7633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FEDAVG_LGB /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0.0454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0.1722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FEDAVG_XGB /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0.0477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0.1911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FEDAVG_MLP /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0.0279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0.0439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0.9729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FEDAVG_LGB /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0.0676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0.4202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FEDAVG_XGB /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0.0358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0.5057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FEDAVG_MLP /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0.9717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FEDAVG_LGB /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0.6352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FEDAVG_XGB /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0.2771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3366"/>
                </a:solidFill>
              </a:rPr>
              <a:t>Results: FEDPROX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8412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Alpha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AUPRC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MCC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Specificity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FEDPROX_MLP /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0.0322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0.7644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FEDPROX_LGB /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0.0454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0.1722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FEDPROX_XGB /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0.0477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0.1911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FEDPROX_MLP /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0.0373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0.9722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FEDPROX_LGB /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0.0676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0.4202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FEDPROX_XGB /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0.0358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0.5057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FEDPROX_MLP /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0.0418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FEDPROX_LGB /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0.6352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FEDPROX_XGB /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0.2771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3366"/>
                </a:solidFill>
              </a:rPr>
              <a:t>Results: PERSFL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8412480" cy="47056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Alpha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AUPRC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MCC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Specificity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PERSFL_MLP /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0.7115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PERSFL_PERSONAL /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0.7115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PERSFL_LGB /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0.0454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0.1722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PERSFL_XGB /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0.0477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0.1911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PERSFL_MLP /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0.9901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PERSFL_PERSONAL /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0.0206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0.9854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PERSFL_LGB /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0.0676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0.4202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PERSFL_XGB /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0.0358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0.5057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PERSFL_MLP /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0.0365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0.9900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PERSFL_PERSONAL /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0.0146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0.9922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PERSFL_LGB /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0.6352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1696"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PERSFL_XGB /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0.0060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/>
                        <a:t>0.2771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3366"/>
                </a:solidFill>
              </a:rPr>
              <a:t>FEDAVG (α=0.1)</a:t>
            </a:r>
          </a:p>
        </p:txBody>
      </p:sp>
      <p:pic>
        <p:nvPicPr>
          <p:cNvPr id="3" name="Picture 2" descr="saml_alpha0.1_fedavg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15947547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3366"/>
                </a:solidFill>
              </a:rPr>
              <a:t>FEDNOVA (α=0.1)</a:t>
            </a:r>
          </a:p>
        </p:txBody>
      </p:sp>
      <p:pic>
        <p:nvPicPr>
          <p:cNvPr id="3" name="Picture 2" descr="saml_alpha0.1_fednova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15947547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3366"/>
                </a:solidFill>
              </a:rPr>
              <a:t>FEDPROX (α=0.1)</a:t>
            </a:r>
          </a:p>
        </p:txBody>
      </p:sp>
      <p:pic>
        <p:nvPicPr>
          <p:cNvPr id="3" name="Picture 2" descr="saml_alpha0.1_fedprox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15947547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3366"/>
                </a:solidFill>
              </a:rPr>
              <a:t>PERSFL (α=0.1)</a:t>
            </a:r>
          </a:p>
        </p:txBody>
      </p:sp>
      <p:pic>
        <p:nvPicPr>
          <p:cNvPr id="3" name="Picture 2" descr="saml_alpha0.1_persfl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15947547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3366"/>
                </a:solidFill>
              </a:rPr>
              <a:t>SCAFFOLD (α=0.1)</a:t>
            </a:r>
          </a:p>
        </p:txBody>
      </p:sp>
      <p:pic>
        <p:nvPicPr>
          <p:cNvPr id="3" name="Picture 2" descr="saml_alpha0.1_scaffold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15947547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3366"/>
                </a:solidFill>
              </a:rPr>
              <a:t>FL Convergence (α=0.1)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42268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3366"/>
                </a:solidFill>
              </a:rPr>
              <a:t>Alpha Heterogeneity Analysis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33651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3366"/>
                </a:solidFill>
              </a:rP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800"/>
            </a:pPr>
            <a:r>
              <a:rPr dirty="0"/>
              <a:t>• Federated fraud detection on SAML-D with 5 FL algorithms benchmarked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800"/>
            </a:pPr>
            <a:r>
              <a:rPr dirty="0"/>
              <a:t>• Higher α (IID) consistently improves AUPRC — non-IID is the key challenge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800"/>
            </a:pPr>
            <a:r>
              <a:rPr dirty="0"/>
              <a:t>• </a:t>
            </a:r>
            <a:r>
              <a:rPr dirty="0" err="1"/>
              <a:t>PersFL</a:t>
            </a:r>
            <a:r>
              <a:rPr dirty="0"/>
              <a:t> shows better per-bank fairness metrics at low α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800"/>
            </a:pPr>
            <a:r>
              <a:rPr dirty="0"/>
              <a:t>• MLP tends to outperform LGB/XGB in the FL setting on this dataset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3366"/>
                </a:solidFill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200"/>
            </a:pPr>
            <a:r>
              <a:t>Various (2025). A Comprehensive Survey of Mixture-of-Experts: Algorithms, Theory, and Applications. *arXiv 2025*. https://arxiv.org/abs/2503.07137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200"/>
            </a:pPr>
            <a:r>
              <a:t>Cai, W. et al. (2024). A Survey on Mixture of Experts in Large Language Models. *IEEE TKDE 2025*. https://arxiv.org/abs/2407.06204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200"/>
            </a:pPr>
            <a:r>
              <a:t>Various (2024). AdapMoE: Adaptive Sensitivity-based Expert Gating and Management for Efficient MoE Inference. *arXiv 2024*. https://arxiv.org/abs/2408.10284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200"/>
            </a:pPr>
            <a:r>
              <a:t>Various (2025). CryptoMoE: Privacy-Preserving and Scalable Mixture of Experts Inference via Balanced Expert Routing. *arXiv 2025*. https://arxiv.org/abs/2511.01197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200"/>
            </a:pPr>
            <a:r>
              <a:t>Hosseini Chagahi, M., Delfan, N., Mohammadi Dashtaki, S., Moshiri, B., Piran, M.J. (2024). Explainable AI for Fraud Detection: An Attention-Based Ensemble of CNNs, GNNs, and A Confidence-Driven Gating Mechanism. *arXiv 2024 (q-fin.RM)*. https://arxiv.org/abs/2410.09069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3366"/>
                </a:solidFill>
              </a:rPr>
              <a:t>References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200"/>
            </a:pPr>
            <a:r>
              <a:t>Gao, S., Zhang, S., Jing, S., Zhang, S., Zhou, X., Wang, Y., Cai, Z. (2026). Towards Efficient Federated Learning of Networked Mixture-of-Experts for Mobile Edge Computing. *arXiv 2026*. https://arxiv.org/abs/2511.01743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200"/>
            </a:pPr>
            <a:r>
              <a:t>Various (2026). Geometric Routing Enables Causal Expert Control in Mixture of Experts. *arXiv 2026*. https://arxiv.org/abs/2604.14434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200"/>
            </a:pPr>
            <a:r>
              <a:t>Oksuz, K., Kuzucu, S., Joy, T., Dokania, P.K. (2023). MoCaE: Mixture of Calibrated Experts Significantly Improves Object Detection. *arXiv 2023 / CVPR 2024*. https://arxiv.org/abs/2309.14976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200"/>
            </a:pPr>
            <a:r>
              <a:t>Shazeer, N., Mirhoseini, A., Maziarz, K., Davis, A., Le, Q., Hinton, G., Dean, J. (2017). Outrageously Large Neural Networks: The Sparsely-Gated Mixture-of-Experts Layer. *ICLR 2017*. https://arxiv.org/abs/1701.06538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200"/>
            </a:pPr>
            <a:r>
              <a:t>Various (2024). Routers in Vision Mixture of Experts: An Empirical Study. *arXiv 2024*. https://arxiv.org/abs/2401.15969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1060</Words>
  <Application>Microsoft Office PowerPoint</Application>
  <PresentationFormat>On-screen Show (4:3)</PresentationFormat>
  <Paragraphs>256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Nicolas Ordonez Chala</cp:lastModifiedBy>
  <cp:revision>2</cp:revision>
  <dcterms:created xsi:type="dcterms:W3CDTF">2013-01-27T09:14:16Z</dcterms:created>
  <dcterms:modified xsi:type="dcterms:W3CDTF">2026-05-04T14:03:29Z</dcterms:modified>
  <cp:category/>
</cp:coreProperties>
</file>